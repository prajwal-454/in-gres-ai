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We built IN-GRES AI - the Indian Groundwater Resource Estimation System. It is an AI virtual assistant that makes India's groundwater data conversational. Anyone can ask questions by typing, by speaking into the browser, or even over a normal phone call, in nine Indian languages, and get accurate answers backed by real government datasets. In the next ten minutes we will show you the problem, how we solved it, and then a live demo.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India tracks groundwater carefully, but the data lives in scattered PDFs and portals that are hard to query. A farmer in a village cannot easily use them - they are in English, they need a computer, and they need to know which report to open. District officials who plan water conservation have no quick way to see trends or forecasts. And there is no single place where anyone can simply ask: will my district run dry? That is the gap we fill.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IN-GRES AI is one assistant reachable through three channels: the web app, voice in the browser, and a plain phone call through Twilio-style telephony. It understands nine Indian languages and detects the language automatically. On data trust: it always prefers real CGWB and IMD observations, and any synthetic demo numbers are clearly labelled as demo. Beyond Q&amp;A it produces forecasts, what-if scenarios, maps and downloadable reports. And if the AI is not confident, it escalates to a human expert instead of guessing.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architecture. Every channel converges into a graph-based orchestrator, similar to LangGraph, which routes the question to specialised agents: intent extraction, database queries, retrieval-augmented generation over our knowledge base, and GIS lookups. A response agent composes the answer, optionally speaking it via text-to-speech. Two design rules matter. First, phone calls hit exactly the same brain as the web app - only the adapters differ. Second, structured groundwater numbers never come from the language model; they are queried from the database, so the model can phrase but not hallucinate figures.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stack overview. React and TypeScript on the front, FastAPI on the back, PostgreSQL with PostGIS for spatial queries. The AI layer is interesting: our orchestrator has zero heavy dependencies, retrieval uses BM25 over curated knowledge documents, and the LLM is pluggable - local Ollama for keyless privacy, or Groq and OpenAI in the cloud, with automatic fallback between them. The voice stack runs completely offline with Vosk speech recognition and Edge neural voices - no API keys needed.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foundation is layered. The seed builds a national synthetic dataset covering all 36 states and union territories with their roughly 780 real district names and about half a million villages, each with annual assessments from 2017 to 2022. On top of that, we imported real CGWB station observations - around 765 thousand stations across 29 states - carrying provenance like source file and page numbers. And live: the app syncs six-hourly water-level telemetry from the CGWB Digital Water Level Recorder portal and district rainfall from IMD. Every response tells you whether figures are demo or real and where they came from. Nothing official is ever fabricated.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core feature. The orchestrator understands before answering: it extracts the language, intent, location down to village level, and the metric you care about. If you say 'how is the situation there', it asks a short clarifying question rather than giving a misleading national average. Answers match the question type: whether-questions lead with a real yes or no computed from history, comparisons render as tables, and clickable follow-up chips guide the conversation. It remembers context, so 'what about Guntur' just works. Users can rate answers, regenerate them, and export the whole chat as Markdown.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Language support goes deep. Nine Indian scripts are detected in text, and state names are recognised written in their own regional scripts, including grammar forms like locative suffixes. In voice mode, local Whisper transcription detects Telugu, Hindi or English by itself, the assistant answers in that same language, and speaks the answer back with neural text-to-speech. Crucially, when answers are translated, every number, unit and line structure is preserved verbatim - the facts never drift.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Phone integration means no smartphone or literacy barrier at all. A regular call hits our webhook, audio streams over WebSocket, gets transcribed, flows through the same orchestrator as the web app, and the answer is spoken back. Privacy is designed in: numbers are stored masked and hashed, webhook signatures are validated, and recording is off unless explicitly enabled. Vendors are swappable through one abstraction, and locally everything runs keyless with a mock provider - which is what we will show in the demo.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Forecasting supports six methods, from simple linear regression up to ARIMA and Holt's double smoothing, plus an auto mode that validates each method on a hold-out window and picks the best by RMSE. Projections come with ninety-five percent confidence bands, and for extraction stage we classify future risk categories and even estimate years until a district crosses the over-exploited threshold. Scopes work down to basins - twenty major Central Water Commission basins. Optionally, PyTorch LSTM and Transformer models with transfer learning improve accuracy, but the app degrades gracefully without them. And honestly matters: everything is labelled a statistical estimate, never an official government forecast.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Studio turns forecasting into policy exploration. Drag two sliders - change extraction and recharge percentages - and the engine immediately re-runs both the baseline and modified projections side by side, with confidence bands and colour-coded difference cards showing the end-value gap and whether the risk category shifts, say from semi-critical to critical. Presets give quick starting points and scenarios can be saved and shared. This is the feature decision-makers love, and you will see it live in the demo.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features round out understanding. The GIS page renders choropleth maps of any metric, with a time-lapse slider that animates year by year, and a comparison mode that colour-codes the change between two assessment years. The Compare workspace puts two to four scopes - states, districts, villages or entire basins - side by side with metric tables, multi-series trend charts and a better-or-worse verdict. And a live weather page shows current conditions plus a seven-day outlook from official IMD data, falling back to Open-Meteo clearly labelled as unofficial.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this is public-facing water information, trust is a feature, not an afterthought. A background anomaly engine scans observations for problems - impossible stage percentages, negative volumes, category labels contradicting the numbers, statistical outliers - flags them for admin review with a full workflow and audit log. High-severity findings notify admins instantly. When the assistant does not know, it says so and offers escalation to a human expert. And everywhere in the UI, demo versus real data is visibly labelled with its source.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operators, the admin console is a tabbed command center. One overview shows live stats, an interactive India map and critical zones. Data tabs handle imports and the live telemetry sync. There is AI health monitoring - retrieval status, cached backtest metrics per state, and a monitor of recent user intents and feedback. The Data Quality tab drives the anomaly scans we just discussed. A voice dashboard replays call logs and transcripts and can fire a scripted end-to-end Telugu test call. And users can schedule recurring PDF report digests for any scope, emailed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treated this like production software, not a prototype. The backend has a hundred and thirty passing pytest tests covering auth, chat, forecasting, GIS, voice and more. CI runs on every push: backend tests, frontend typecheck and build, and Docker image builds both with and without the machine-learning stack. Containers are hardened with non-root users, healthchecks and content-security policies, and every seeding and import step is idempotent.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five-minute demo, in this order. First the dashboard with its village-friendly cards. Then the assistant: ask in English, ask a quick follow-up using context, switch to Telugu, then ask for a five-year prediction. Next, Scenario Studio - drag minus twenty percent pumping and point out the risk-category change. Then the GIS time-lapse animation. And finally, a simulated Telugu phone call going through the full pipeline.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our vision is groundwater answers for every Indian, in their own language, on whatever device they have - from a basic phone to a desktop dashboard. The roadmap adds more real district coverage, an SMS channel for feature phones, and richer regional voices. Thank you - we are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194560"/>
            <a:ext cx="10332720" cy="1645920"/>
          </a:xfrm>
          <a:prstGeom prst="rect">
            <a:avLst/>
          </a:prstGeom>
          <a:noFill/>
        </p:spPr>
        <p:txBody>
          <a:bodyPr wrap="none">
            <a:spAutoFit/>
          </a:bodyPr>
          <a:lstStyle/>
          <a:p>
            <a:r>
              <a:rPr sz="6600" b="1">
                <a:solidFill>
                  <a:srgbClr val="0E7C86"/>
                </a:solidFill>
              </a:rPr>
              <a:t>IN-GRES AI</a:t>
            </a:r>
          </a:p>
        </p:txBody>
      </p:sp>
      <p:sp>
        <p:nvSpPr>
          <p:cNvPr id="4" name="TextBox 3"/>
          <p:cNvSpPr txBox="1"/>
          <p:nvPr/>
        </p:nvSpPr>
        <p:spPr>
          <a:xfrm>
            <a:off x="914400" y="3566160"/>
            <a:ext cx="10332720" cy="1280160"/>
          </a:xfrm>
          <a:prstGeom prst="rect">
            <a:avLst/>
          </a:prstGeom>
          <a:noFill/>
        </p:spPr>
        <p:txBody>
          <a:bodyPr wrap="none">
            <a:spAutoFit/>
          </a:bodyPr>
          <a:lstStyle/>
          <a:p>
            <a:r>
              <a:rPr sz="2400">
                <a:solidFill>
                  <a:srgbClr val="1F2A30"/>
                </a:solidFill>
              </a:rPr>
              <a:t>Indian Groundwater Resource Estimation System
An AI Virtual Assistant for India's Groundwater Data</a:t>
            </a:r>
          </a:p>
        </p:txBody>
      </p:sp>
      <p:sp>
        <p:nvSpPr>
          <p:cNvPr id="5" name="TextBox 4"/>
          <p:cNvSpPr txBox="1"/>
          <p:nvPr/>
        </p:nvSpPr>
        <p:spPr>
          <a:xfrm>
            <a:off x="914400" y="5669280"/>
            <a:ext cx="10332720" cy="731520"/>
          </a:xfrm>
          <a:prstGeom prst="rect">
            <a:avLst/>
          </a:prstGeom>
          <a:noFill/>
        </p:spPr>
        <p:txBody>
          <a:bodyPr wrap="none">
            <a:spAutoFit/>
          </a:bodyPr>
          <a:lstStyle/>
          <a:p>
            <a:r>
              <a:rPr sz="1600">
                <a:solidFill>
                  <a:srgbClr val="5A6A72"/>
                </a:solidFill>
              </a:rPr>
              <a:t>Team &lt;names&gt;  |  &lt;Event&gt;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914400"/>
          </a:xfrm>
          <a:prstGeom prst="rect">
            <a:avLst/>
          </a:prstGeom>
          <a:noFill/>
        </p:spPr>
        <p:txBody>
          <a:bodyPr wrap="none">
            <a:spAutoFit/>
          </a:bodyPr>
          <a:lstStyle/>
          <a:p>
            <a:r>
              <a:rPr sz="3400" b="1">
                <a:solidFill>
                  <a:srgbClr val="0E7C86"/>
                </a:solidFill>
              </a:rPr>
              <a:t>The Problem</a:t>
            </a:r>
          </a:p>
        </p:txBody>
      </p:sp>
      <p:sp>
        <p:nvSpPr>
          <p:cNvPr id="4" name="TextBox 3"/>
          <p:cNvSpPr txBox="1"/>
          <p:nvPr/>
        </p:nvSpPr>
        <p:spPr>
          <a:xfrm>
            <a:off x="566928" y="1325880"/>
            <a:ext cx="11155680" cy="4846320"/>
          </a:xfrm>
          <a:prstGeom prst="rect">
            <a:avLst/>
          </a:prstGeom>
          <a:noFill/>
        </p:spPr>
        <p:txBody>
          <a:bodyPr wrap="square">
            <a:spAutoFit/>
          </a:bodyPr>
          <a:lstStyle/>
          <a:p>
            <a:pPr>
              <a:spcAft>
                <a:spcPts val="1000"/>
              </a:spcAft>
            </a:pPr>
            <a:r>
              <a:rPr sz="1900">
                <a:solidFill>
                  <a:srgbClr val="1F2A30"/>
                </a:solidFill>
              </a:rPr>
              <a:t>Groundwater data is scattered across CGWB PDFs, portals and yearly reports</a:t>
            </a:r>
          </a:p>
          <a:p>
            <a:pPr>
              <a:spcAft>
                <a:spcPts val="1000"/>
              </a:spcAft>
            </a:pPr>
            <a:r>
              <a:rPr sz="1900">
                <a:solidFill>
                  <a:srgbClr val="1F2A30"/>
                </a:solidFill>
              </a:rPr>
              <a:t>Rural users face language and access barriers - English-only PDFs don't help</a:t>
            </a:r>
          </a:p>
          <a:p>
            <a:pPr>
              <a:spcAft>
                <a:spcPts val="1000"/>
              </a:spcAft>
            </a:pPr>
            <a:r>
              <a:rPr sz="1900">
                <a:solidFill>
                  <a:srgbClr val="1F2A30"/>
                </a:solidFill>
              </a:rPr>
              <a:t>Officials lack quick trend and forecast tools for planning decisions</a:t>
            </a:r>
          </a:p>
          <a:p>
            <a:pPr>
              <a:spcAft>
                <a:spcPts val="1000"/>
              </a:spcAft>
            </a:pPr>
            <a:r>
              <a:rPr sz="1900">
                <a:solidFill>
                  <a:srgbClr val="1F2A30"/>
                </a:solidFill>
              </a:rPr>
              <a:t>No single place to ask: “Will my district run dry next year?”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914400"/>
          </a:xfrm>
          <a:prstGeom prst="rect">
            <a:avLst/>
          </a:prstGeom>
          <a:noFill/>
        </p:spPr>
        <p:txBody>
          <a:bodyPr wrap="none">
            <a:spAutoFit/>
          </a:bodyPr>
          <a:lstStyle/>
          <a:p>
            <a:r>
              <a:rPr sz="3400" b="1">
                <a:solidFill>
                  <a:srgbClr val="0E7C86"/>
                </a:solidFill>
              </a:rPr>
              <a:t>Our Solution</a:t>
            </a:r>
          </a:p>
        </p:txBody>
      </p:sp>
      <p:sp>
        <p:nvSpPr>
          <p:cNvPr id="4" name="TextBox 3"/>
          <p:cNvSpPr txBox="1"/>
          <p:nvPr/>
        </p:nvSpPr>
        <p:spPr>
          <a:xfrm>
            <a:off x="566928" y="1325880"/>
            <a:ext cx="11155680" cy="4846320"/>
          </a:xfrm>
          <a:prstGeom prst="rect">
            <a:avLst/>
          </a:prstGeom>
          <a:noFill/>
        </p:spPr>
        <p:txBody>
          <a:bodyPr wrap="square">
            <a:spAutoFit/>
          </a:bodyPr>
          <a:lstStyle/>
          <a:p>
            <a:pPr>
              <a:spcAft>
                <a:spcPts val="1000"/>
              </a:spcAft>
            </a:pPr>
            <a:r>
              <a:rPr sz="1900">
                <a:solidFill>
                  <a:srgbClr val="1F2A30"/>
                </a:solidFill>
              </a:rPr>
              <a:t>One assistant, three channels: Web chat · Browser voice · Regular phone call</a:t>
            </a:r>
          </a:p>
          <a:p>
            <a:pPr>
              <a:spcAft>
                <a:spcPts val="1000"/>
              </a:spcAft>
            </a:pPr>
            <a:r>
              <a:rPr sz="1900">
                <a:solidFill>
                  <a:srgbClr val="1F2A30"/>
                </a:solidFill>
              </a:rPr>
              <a:t>Answers in 9 Indian languages - auto-detected from your text or speech</a:t>
            </a:r>
          </a:p>
          <a:p>
            <a:pPr>
              <a:spcAft>
                <a:spcPts val="1000"/>
              </a:spcAft>
            </a:pPr>
            <a:r>
              <a:rPr sz="1900">
                <a:solidFill>
                  <a:srgbClr val="1F2A30"/>
                </a:solidFill>
              </a:rPr>
              <a:t>Real CGWB/IMD data first; clearly-labelled synthetic demo data as fallback</a:t>
            </a:r>
          </a:p>
          <a:p>
            <a:pPr>
              <a:spcAft>
                <a:spcPts val="1000"/>
              </a:spcAft>
            </a:pPr>
            <a:r>
              <a:rPr sz="1900">
                <a:solidFill>
                  <a:srgbClr val="1F2A30"/>
                </a:solidFill>
              </a:rPr>
              <a:t>Forecasts, what-if scenarios, maps and reports - all conversational</a:t>
            </a:r>
          </a:p>
          <a:p>
            <a:pPr>
              <a:spcAft>
                <a:spcPts val="1000"/>
              </a:spcAft>
            </a:pPr>
            <a:r>
              <a:rPr sz="1900">
                <a:solidFill>
                  <a:srgbClr val="1F2A30"/>
                </a:solidFill>
              </a:rPr>
              <a:t>Human expert escalation when the AI cannot answer confidently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914400"/>
          </a:xfrm>
          <a:prstGeom prst="rect">
            <a:avLst/>
          </a:prstGeom>
          <a:noFill/>
        </p:spPr>
        <p:txBody>
          <a:bodyPr wrap="none">
            <a:spAutoFit/>
          </a:bodyPr>
          <a:lstStyle/>
          <a:p>
            <a:r>
              <a:rPr sz="3400" b="1">
                <a:solidFill>
                  <a:srgbClr val="0E7C86"/>
                </a:solidFill>
              </a:rPr>
              <a:t>Architecture</a:t>
            </a:r>
          </a:p>
        </p:txBody>
      </p:sp>
      <p:sp>
        <p:nvSpPr>
          <p:cNvPr id="4" name="TextBox 3"/>
          <p:cNvSpPr txBox="1"/>
          <p:nvPr/>
        </p:nvSpPr>
        <p:spPr>
          <a:xfrm>
            <a:off x="566928" y="1325880"/>
            <a:ext cx="11155680" cy="4846320"/>
          </a:xfrm>
          <a:prstGeom prst="rect">
            <a:avLst/>
          </a:prstGeom>
          <a:noFill/>
        </p:spPr>
        <p:txBody>
          <a:bodyPr wrap="square">
            <a:spAutoFit/>
          </a:bodyPr>
          <a:lstStyle/>
          <a:p>
            <a:pPr>
              <a:spcAft>
                <a:spcPts val="1000"/>
              </a:spcAft>
            </a:pPr>
            <a:r>
              <a:rPr sz="1900">
                <a:solidFill>
                  <a:srgbClr val="1F2A30"/>
                </a:solidFill>
              </a:rPr>
              <a:t>Text / Voice / Phone → LangGraph-style orchestrator → specialised agents</a:t>
            </a:r>
          </a:p>
          <a:p>
            <a:pPr lvl="1">
              <a:spcAft>
                <a:spcPts val="1000"/>
              </a:spcAft>
            </a:pPr>
            <a:r>
              <a:rPr sz="1600">
                <a:solidFill>
                  <a:srgbClr val="5A6A72"/>
                </a:solidFill>
              </a:rPr>
              <a:t>Intent Agent · Data Agent · RAG Agent · GIS Agent → Response Agent (+ TTS)</a:t>
            </a:r>
          </a:p>
          <a:p>
            <a:pPr>
              <a:spcAft>
                <a:spcPts val="1000"/>
              </a:spcAft>
            </a:pPr>
            <a:r>
              <a:rPr sz="1900">
                <a:solidFill>
                  <a:srgbClr val="1F2A30"/>
                </a:solidFill>
              </a:rPr>
              <a:t>Same AI brain on every channel - only input/output adapters differ</a:t>
            </a:r>
          </a:p>
          <a:p>
            <a:pPr>
              <a:spcAft>
                <a:spcPts val="1000"/>
              </a:spcAft>
            </a:pPr>
            <a:r>
              <a:rPr sz="1900">
                <a:solidFill>
                  <a:srgbClr val="1F2A30"/>
                </a:solidFill>
              </a:rPr>
              <a:t>Hard rule: the LLM never generates groundwater numbers - only phrasing</a:t>
            </a:r>
          </a:p>
          <a:p>
            <a:pPr>
              <a:spcAft>
                <a:spcPts val="1000"/>
              </a:spcAft>
            </a:pPr>
            <a:r>
              <a:rPr sz="1900">
                <a:solidFill>
                  <a:srgbClr val="1F2A30"/>
                </a:solidFill>
              </a:rPr>
              <a:t>Stack: FastAPI · PostgreSQL+PostGIS · RAG (BM25) · OpenAI-compatible LLM chain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914400"/>
          </a:xfrm>
          <a:prstGeom prst="rect">
            <a:avLst/>
          </a:prstGeom>
          <a:noFill/>
        </p:spPr>
        <p:txBody>
          <a:bodyPr wrap="none">
            <a:spAutoFit/>
          </a:bodyPr>
          <a:lstStyle/>
          <a:p>
            <a:r>
              <a:rPr sz="3400" b="1">
                <a:solidFill>
                  <a:srgbClr val="0E7C86"/>
                </a:solidFill>
              </a:rPr>
              <a:t>Technology Stack</a:t>
            </a:r>
          </a:p>
        </p:txBody>
      </p:sp>
      <p:sp>
        <p:nvSpPr>
          <p:cNvPr id="4" name="TextBox 3"/>
          <p:cNvSpPr txBox="1"/>
          <p:nvPr/>
        </p:nvSpPr>
        <p:spPr>
          <a:xfrm>
            <a:off x="566928" y="1325880"/>
            <a:ext cx="11155680" cy="4846320"/>
          </a:xfrm>
          <a:prstGeom prst="rect">
            <a:avLst/>
          </a:prstGeom>
          <a:noFill/>
        </p:spPr>
        <p:txBody>
          <a:bodyPr wrap="square">
            <a:spAutoFit/>
          </a:bodyPr>
          <a:lstStyle/>
          <a:p>
            <a:pPr>
              <a:spcAft>
                <a:spcPts val="1000"/>
              </a:spcAft>
            </a:pPr>
            <a:r>
              <a:rPr sz="1900">
                <a:solidFill>
                  <a:srgbClr val="1F2A30"/>
                </a:solidFill>
              </a:rPr>
              <a:t>Frontend: React, TypeScript, Vite, Tailwind CSS, installable PWA</a:t>
            </a:r>
          </a:p>
          <a:p>
            <a:pPr>
              <a:spcAft>
                <a:spcPts val="1000"/>
              </a:spcAft>
            </a:pPr>
            <a:r>
              <a:rPr sz="1900">
                <a:solidFill>
                  <a:srgbClr val="1F2A30"/>
                </a:solidFill>
              </a:rPr>
              <a:t>Backend: Python, FastAPI, SQLAlchemy, Alembic, WebSockets</a:t>
            </a:r>
          </a:p>
          <a:p>
            <a:pPr>
              <a:spcAft>
                <a:spcPts val="1000"/>
              </a:spcAft>
            </a:pPr>
            <a:r>
              <a:rPr sz="1900">
                <a:solidFill>
                  <a:srgbClr val="1F2A30"/>
                </a:solidFill>
              </a:rPr>
              <a:t>Database: PostgreSQL + PostGIS (Docker) / SQLite for local dev</a:t>
            </a:r>
          </a:p>
          <a:p>
            <a:pPr>
              <a:spcAft>
                <a:spcPts val="1000"/>
              </a:spcAft>
            </a:pPr>
            <a:r>
              <a:rPr sz="1900">
                <a:solidFill>
                  <a:srgbClr val="1F2A30"/>
                </a:solidFill>
              </a:rPr>
              <a:t>AI: dependency-free graph orchestrator, BM25 RAG, Ollama/Groq/OpenAI chain</a:t>
            </a:r>
          </a:p>
          <a:p>
            <a:pPr>
              <a:spcAft>
                <a:spcPts val="1000"/>
              </a:spcAft>
            </a:pPr>
            <a:r>
              <a:rPr sz="1900">
                <a:solidFill>
                  <a:srgbClr val="1F2A30"/>
                </a:solidFill>
              </a:rPr>
              <a:t>Voice: Vosk/Whisper STT · Edge neural TTS · Twilio/Exotel/Plivo abstraction</a:t>
            </a:r>
          </a:p>
          <a:p>
            <a:pPr>
              <a:spcAft>
                <a:spcPts val="1000"/>
              </a:spcAft>
            </a:pPr>
            <a:r>
              <a:rPr sz="1900">
                <a:solidFill>
                  <a:srgbClr val="1F2A30"/>
                </a:solidFill>
              </a:rPr>
              <a:t>Infra: Docker Compose, Redis, GitHub Actions 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914400"/>
          </a:xfrm>
          <a:prstGeom prst="rect">
            <a:avLst/>
          </a:prstGeom>
          <a:noFill/>
        </p:spPr>
        <p:txBody>
          <a:bodyPr wrap="none">
            <a:spAutoFit/>
          </a:bodyPr>
          <a:lstStyle/>
          <a:p>
            <a:r>
              <a:rPr sz="3400" b="1">
                <a:solidFill>
                  <a:srgbClr val="0E7C86"/>
                </a:solidFill>
              </a:rPr>
              <a:t>Data Foundation</a:t>
            </a:r>
          </a:p>
        </p:txBody>
      </p:sp>
      <p:sp>
        <p:nvSpPr>
          <p:cNvPr id="4" name="TextBox 3"/>
          <p:cNvSpPr txBox="1"/>
          <p:nvPr/>
        </p:nvSpPr>
        <p:spPr>
          <a:xfrm>
            <a:off x="566928" y="1325880"/>
            <a:ext cx="11155680" cy="4846320"/>
          </a:xfrm>
          <a:prstGeom prst="rect">
            <a:avLst/>
          </a:prstGeom>
          <a:noFill/>
        </p:spPr>
        <p:txBody>
          <a:bodyPr wrap="square">
            <a:spAutoFit/>
          </a:bodyPr>
          <a:lstStyle/>
          <a:p>
            <a:pPr>
              <a:spcAft>
                <a:spcPts val="1000"/>
              </a:spcAft>
            </a:pPr>
            <a:r>
              <a:rPr sz="1900">
                <a:solidFill>
                  <a:srgbClr val="1F2A30"/>
                </a:solidFill>
              </a:rPr>
              <a:t>National dataset: 36 states/UTs, ~780 real districts, ~517k villages, 2017–2022</a:t>
            </a:r>
          </a:p>
          <a:p>
            <a:pPr>
              <a:spcAft>
                <a:spcPts val="1000"/>
              </a:spcAft>
            </a:pPr>
            <a:r>
              <a:rPr sz="1900">
                <a:solidFill>
                  <a:srgbClr val="1F2A30"/>
                </a:solidFill>
              </a:rPr>
              <a:t>Real CGWB station data (~765k stations) imported with full provenance metadata</a:t>
            </a:r>
          </a:p>
          <a:p>
            <a:pPr>
              <a:spcAft>
                <a:spcPts val="1000"/>
              </a:spcAft>
            </a:pPr>
            <a:r>
              <a:rPr sz="1900">
                <a:solidFill>
                  <a:srgbClr val="1F2A30"/>
                </a:solidFill>
              </a:rPr>
              <a:t>Live telemetry: CGWB DWLR water levels + IMD rainfall, auto-synced every few hours</a:t>
            </a:r>
          </a:p>
          <a:p>
            <a:pPr>
              <a:spcAft>
                <a:spcPts val="1000"/>
              </a:spcAft>
            </a:pPr>
            <a:r>
              <a:rPr sz="1900">
                <a:solidFill>
                  <a:srgbClr val="1F2A30"/>
                </a:solidFill>
              </a:rPr>
              <a:t>Every API response carries is_demo flag + source - zero fabricated official data</a:t>
            </a:r>
          </a:p>
          <a:p>
            <a:pPr>
              <a:spcAft>
                <a:spcPts val="1000"/>
              </a:spcAft>
            </a:pPr>
            <a:r>
              <a:rPr sz="1900">
                <a:solidFill>
                  <a:srgbClr val="1F2A30"/>
                </a:solidFill>
              </a:rPr>
              <a:t>Smart scaling: &gt;8000 map polygons auto-aggregate to district level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914400"/>
          </a:xfrm>
          <a:prstGeom prst="rect">
            <a:avLst/>
          </a:prstGeom>
          <a:noFill/>
        </p:spPr>
        <p:txBody>
          <a:bodyPr wrap="none">
            <a:spAutoFit/>
          </a:bodyPr>
          <a:lstStyle/>
          <a:p>
            <a:r>
              <a:rPr sz="3400" b="1">
                <a:solidFill>
                  <a:srgbClr val="0E7C86"/>
                </a:solidFill>
              </a:rPr>
              <a:t>Feature: AI Assistant ⭐</a:t>
            </a:r>
          </a:p>
        </p:txBody>
      </p:sp>
      <p:sp>
        <p:nvSpPr>
          <p:cNvPr id="4" name="TextBox 3"/>
          <p:cNvSpPr txBox="1"/>
          <p:nvPr/>
        </p:nvSpPr>
        <p:spPr>
          <a:xfrm>
            <a:off x="566928" y="1325880"/>
            <a:ext cx="11155680" cy="4846320"/>
          </a:xfrm>
          <a:prstGeom prst="rect">
            <a:avLst/>
          </a:prstGeom>
          <a:noFill/>
        </p:spPr>
        <p:txBody>
          <a:bodyPr wrap="square">
            <a:spAutoFit/>
          </a:bodyPr>
          <a:lstStyle/>
          <a:p>
            <a:pPr>
              <a:spcAft>
                <a:spcPts val="1000"/>
              </a:spcAft>
            </a:pPr>
            <a:r>
              <a:rPr sz="1900">
                <a:solidFill>
                  <a:srgbClr val="1F2A30"/>
                </a:solidFill>
              </a:rPr>
              <a:t>Understand-first pipeline: language → intent → location → metric extraction</a:t>
            </a:r>
          </a:p>
          <a:p>
            <a:pPr>
              <a:spcAft>
                <a:spcPts val="1000"/>
              </a:spcAft>
            </a:pPr>
            <a:r>
              <a:rPr sz="1900">
                <a:solidFill>
                  <a:srgbClr val="1F2A30"/>
                </a:solidFill>
              </a:rPr>
              <a:t>Ambiguity handling: vague questions get one short clarifying reply</a:t>
            </a:r>
          </a:p>
          <a:p>
            <a:pPr>
              <a:spcAft>
                <a:spcPts val="1000"/>
              </a:spcAft>
            </a:pPr>
            <a:r>
              <a:rPr sz="1900">
                <a:solidFill>
                  <a:srgbClr val="1F2A30"/>
                </a:solidFill>
              </a:rPr>
              <a:t>Answer shapes: Yes/No verdicts, markdown comparison tables, follow-up chips</a:t>
            </a:r>
          </a:p>
          <a:p>
            <a:pPr>
              <a:spcAft>
                <a:spcPts val="1000"/>
              </a:spcAft>
            </a:pPr>
            <a:r>
              <a:rPr sz="1900">
                <a:solidFill>
                  <a:srgbClr val="1F2A30"/>
                </a:solidFill>
              </a:rPr>
              <a:t>Multi-turn memory: “what about Guntur?” resolves from context</a:t>
            </a:r>
          </a:p>
          <a:p>
            <a:pPr>
              <a:spcAft>
                <a:spcPts val="1000"/>
              </a:spcAft>
            </a:pPr>
            <a:r>
              <a:rPr sz="1900">
                <a:solidFill>
                  <a:srgbClr val="1F2A30"/>
                </a:solidFill>
              </a:rPr>
              <a:t>Feedback loop: 👍/👎 ratings, answer regeneration, Markdown export</a:t>
            </a:r>
          </a:p>
          <a:p>
            <a:pPr>
              <a:spcAft>
                <a:spcPts val="1000"/>
              </a:spcAft>
            </a:pPr>
            <a:r>
              <a:rPr sz="1900">
                <a:solidFill>
                  <a:srgbClr val="1F2A30"/>
                </a:solidFill>
              </a:rPr>
              <a:t>Unknown topics route to live web search (Groq-native), then fallback chain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914400"/>
          </a:xfrm>
          <a:prstGeom prst="rect">
            <a:avLst/>
          </a:prstGeom>
          <a:noFill/>
        </p:spPr>
        <p:txBody>
          <a:bodyPr wrap="none">
            <a:spAutoFit/>
          </a:bodyPr>
          <a:lstStyle/>
          <a:p>
            <a:r>
              <a:rPr sz="3400" b="1">
                <a:solidFill>
                  <a:srgbClr val="0E7C86"/>
                </a:solidFill>
              </a:rPr>
              <a:t>Feature: Multilingual + Voice</a:t>
            </a:r>
          </a:p>
        </p:txBody>
      </p:sp>
      <p:sp>
        <p:nvSpPr>
          <p:cNvPr id="4" name="TextBox 3"/>
          <p:cNvSpPr txBox="1"/>
          <p:nvPr/>
        </p:nvSpPr>
        <p:spPr>
          <a:xfrm>
            <a:off x="566928" y="1325880"/>
            <a:ext cx="11155680" cy="4846320"/>
          </a:xfrm>
          <a:prstGeom prst="rect">
            <a:avLst/>
          </a:prstGeom>
          <a:noFill/>
        </p:spPr>
        <p:txBody>
          <a:bodyPr wrap="square">
            <a:spAutoFit/>
          </a:bodyPr>
          <a:lstStyle/>
          <a:p>
            <a:pPr>
              <a:spcAft>
                <a:spcPts val="1000"/>
              </a:spcAft>
            </a:pPr>
            <a:r>
              <a:rPr sz="1900">
                <a:solidFill>
                  <a:srgbClr val="1F2A30"/>
                </a:solidFill>
              </a:rPr>
              <a:t>Detects Telugu, Hindi, Tamil, Kannada, Malayalam, Bengali, Gujarati, Punjabi, Odia</a:t>
            </a:r>
          </a:p>
          <a:p>
            <a:pPr>
              <a:spcAft>
                <a:spcPts val="1000"/>
              </a:spcAft>
            </a:pPr>
            <a:r>
              <a:rPr sz="1900">
                <a:solidFill>
                  <a:srgbClr val="1F2A30"/>
                </a:solidFill>
              </a:rPr>
              <a:t>Recognises state names in native scripts: తెలంగాణ, தமிழ்நாடு, ಕರ್ಣಾಟಕ</a:t>
            </a:r>
          </a:p>
          <a:p>
            <a:pPr>
              <a:spcAft>
                <a:spcPts val="1000"/>
              </a:spcAft>
            </a:pPr>
            <a:r>
              <a:rPr sz="1900">
                <a:solidFill>
                  <a:srgbClr val="1F2A30"/>
                </a:solidFill>
              </a:rPr>
              <a:t>Whisper STT auto-detects spoken language; assistant replies in kind via neural TTS</a:t>
            </a:r>
          </a:p>
          <a:p>
            <a:pPr>
              <a:spcAft>
                <a:spcPts val="1000"/>
              </a:spcAft>
            </a:pPr>
            <a:r>
              <a:rPr sz="1900">
                <a:solidFill>
                  <a:srgbClr val="1F2A30"/>
                </a:solidFill>
              </a:rPr>
              <a:t>Figures, units and structure stay verbatim through translation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914400"/>
          </a:xfrm>
          <a:prstGeom prst="rect">
            <a:avLst/>
          </a:prstGeom>
          <a:noFill/>
        </p:spPr>
        <p:txBody>
          <a:bodyPr wrap="none">
            <a:spAutoFit/>
          </a:bodyPr>
          <a:lstStyle/>
          <a:p>
            <a:r>
              <a:rPr sz="3400" b="1">
                <a:solidFill>
                  <a:srgbClr val="0E7C86"/>
                </a:solidFill>
              </a:rPr>
              <a:t>Feature: Phone Calls (IVR)</a:t>
            </a:r>
          </a:p>
        </p:txBody>
      </p:sp>
      <p:sp>
        <p:nvSpPr>
          <p:cNvPr id="4" name="TextBox 3"/>
          <p:cNvSpPr txBox="1"/>
          <p:nvPr/>
        </p:nvSpPr>
        <p:spPr>
          <a:xfrm>
            <a:off x="566928" y="1325880"/>
            <a:ext cx="11155680" cy="4846320"/>
          </a:xfrm>
          <a:prstGeom prst="rect">
            <a:avLst/>
          </a:prstGeom>
          <a:noFill/>
        </p:spPr>
        <p:txBody>
          <a:bodyPr wrap="square">
            <a:spAutoFit/>
          </a:bodyPr>
          <a:lstStyle/>
          <a:p>
            <a:pPr>
              <a:spcAft>
                <a:spcPts val="1000"/>
              </a:spcAft>
            </a:pPr>
            <a:r>
              <a:rPr sz="1900">
                <a:solidFill>
                  <a:srgbClr val="1F2A30"/>
                </a:solidFill>
              </a:rPr>
              <a:t>Twilio / Exotel / Plivo provider abstraction behind one webhook interface</a:t>
            </a:r>
          </a:p>
          <a:p>
            <a:pPr>
              <a:spcAft>
                <a:spcPts val="1000"/>
              </a:spcAft>
            </a:pPr>
            <a:r>
              <a:rPr sz="1900">
                <a:solidFill>
                  <a:srgbClr val="1F2A30"/>
                </a:solidFill>
              </a:rPr>
              <a:t>Call flow: webhook → WebSocket media stream → STT → orchestrator → TTS</a:t>
            </a:r>
          </a:p>
          <a:p>
            <a:pPr>
              <a:spcAft>
                <a:spcPts val="1000"/>
              </a:spcAft>
            </a:pPr>
            <a:r>
              <a:rPr sz="1900">
                <a:solidFill>
                  <a:srgbClr val="1F2A30"/>
                </a:solidFill>
              </a:rPr>
              <a:t>Privacy: caller numbers masked &amp; hashed, signed webhooks, recording opt-in</a:t>
            </a:r>
          </a:p>
          <a:p>
            <a:pPr>
              <a:spcAft>
                <a:spcPts val="1000"/>
              </a:spcAft>
            </a:pPr>
            <a:r>
              <a:rPr sz="1900">
                <a:solidFill>
                  <a:srgbClr val="1F2A30"/>
                </a:solidFill>
              </a:rPr>
              <a:t>Runs keyless locally via mock provider + offline Vosk models</a:t>
            </a:r>
          </a:p>
          <a:p>
            <a:pPr>
              <a:spcAft>
                <a:spcPts val="1000"/>
              </a:spcAft>
            </a:pPr>
            <a:r>
              <a:rPr sz="1900">
                <a:solidFill>
                  <a:srgbClr val="1F2A30"/>
                </a:solidFill>
              </a:rPr>
              <a:t>“A farmer with a basic phone gets the same answers as a web user.”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914400"/>
          </a:xfrm>
          <a:prstGeom prst="rect">
            <a:avLst/>
          </a:prstGeom>
          <a:noFill/>
        </p:spPr>
        <p:txBody>
          <a:bodyPr wrap="none">
            <a:spAutoFit/>
          </a:bodyPr>
          <a:lstStyle/>
          <a:p>
            <a:r>
              <a:rPr sz="3400" b="1">
                <a:solidFill>
                  <a:srgbClr val="0E7C86"/>
                </a:solidFill>
              </a:rPr>
              <a:t>Feature: Forecasting</a:t>
            </a:r>
          </a:p>
        </p:txBody>
      </p:sp>
      <p:sp>
        <p:nvSpPr>
          <p:cNvPr id="4" name="TextBox 3"/>
          <p:cNvSpPr txBox="1"/>
          <p:nvPr/>
        </p:nvSpPr>
        <p:spPr>
          <a:xfrm>
            <a:off x="566928" y="1325880"/>
            <a:ext cx="11155680" cy="4846320"/>
          </a:xfrm>
          <a:prstGeom prst="rect">
            <a:avLst/>
          </a:prstGeom>
          <a:noFill/>
        </p:spPr>
        <p:txBody>
          <a:bodyPr wrap="square">
            <a:spAutoFit/>
          </a:bodyPr>
          <a:lstStyle/>
          <a:p>
            <a:pPr>
              <a:spcAft>
                <a:spcPts val="1000"/>
              </a:spcAft>
            </a:pPr>
            <a:r>
              <a:rPr sz="1900">
                <a:solidFill>
                  <a:srgbClr val="1F2A30"/>
                </a:solidFill>
              </a:rPr>
              <a:t>Methods: Linear · Moving Avg · Exp Smoothing · ARIMA · Holt · Auto (best RMSE)</a:t>
            </a:r>
          </a:p>
          <a:p>
            <a:pPr>
              <a:spcAft>
                <a:spcPts val="1000"/>
              </a:spcAft>
            </a:pPr>
            <a:r>
              <a:rPr sz="1900">
                <a:solidFill>
                  <a:srgbClr val="1F2A30"/>
                </a:solidFill>
              </a:rPr>
              <a:t>95% confidence bands, risk classification, years-to-overexploited estimate</a:t>
            </a:r>
          </a:p>
          <a:p>
            <a:pPr>
              <a:spcAft>
                <a:spcPts val="1000"/>
              </a:spcAft>
            </a:pPr>
            <a:r>
              <a:rPr sz="1900">
                <a:solidFill>
                  <a:srgbClr val="1F2A30"/>
                </a:solidFill>
              </a:rPr>
              <a:t>River-basin scopes: 20 major CWC basins (Godavari, Krishna, Ganga…)</a:t>
            </a:r>
          </a:p>
          <a:p>
            <a:pPr>
              <a:spcAft>
                <a:spcPts val="1000"/>
              </a:spcAft>
            </a:pPr>
            <a:r>
              <a:rPr sz="1900">
                <a:solidFill>
                  <a:srgbClr val="1F2A30"/>
                </a:solidFill>
              </a:rPr>
              <a:t>Optional LSTM / Transformer + transfer learning; graceful statistical fallback</a:t>
            </a:r>
          </a:p>
          <a:p>
            <a:pPr>
              <a:spcAft>
                <a:spcPts val="1000"/>
              </a:spcAft>
            </a:pPr>
            <a:r>
              <a:rPr sz="1900">
                <a:solidFill>
                  <a:srgbClr val="1F2A30"/>
                </a:solidFill>
              </a:rPr>
              <a:t>Walk-forward backtesting: RMSE / MAE / MAPE + CRPS skill scores</a:t>
            </a:r>
          </a:p>
          <a:p>
            <a:pPr>
              <a:spcAft>
                <a:spcPts val="1000"/>
              </a:spcAft>
            </a:pPr>
            <a:r>
              <a:rPr sz="1900">
                <a:solidFill>
                  <a:srgbClr val="1F2A30"/>
                </a:solidFill>
              </a:rPr>
              <a:t>Always labelled: statistical estimates - never official CGWB projections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914400"/>
          </a:xfrm>
          <a:prstGeom prst="rect">
            <a:avLst/>
          </a:prstGeom>
          <a:noFill/>
        </p:spPr>
        <p:txBody>
          <a:bodyPr wrap="none">
            <a:spAutoFit/>
          </a:bodyPr>
          <a:lstStyle/>
          <a:p>
            <a:r>
              <a:rPr sz="3400" b="1">
                <a:solidFill>
                  <a:srgbClr val="0E7C86"/>
                </a:solidFill>
              </a:rPr>
              <a:t>Feature: Scenario Studio</a:t>
            </a:r>
          </a:p>
        </p:txBody>
      </p:sp>
      <p:sp>
        <p:nvSpPr>
          <p:cNvPr id="4" name="TextBox 3"/>
          <p:cNvSpPr txBox="1"/>
          <p:nvPr/>
        </p:nvSpPr>
        <p:spPr>
          <a:xfrm>
            <a:off x="566928" y="1325880"/>
            <a:ext cx="11155680" cy="4846320"/>
          </a:xfrm>
          <a:prstGeom prst="rect">
            <a:avLst/>
          </a:prstGeom>
          <a:noFill/>
        </p:spPr>
        <p:txBody>
          <a:bodyPr wrap="square">
            <a:spAutoFit/>
          </a:bodyPr>
          <a:lstStyle/>
          <a:p>
            <a:pPr>
              <a:spcAft>
                <a:spcPts val="1000"/>
              </a:spcAft>
            </a:pPr>
            <a:r>
              <a:rPr sz="1900">
                <a:solidFill>
                  <a:srgbClr val="1F2A30"/>
                </a:solidFill>
              </a:rPr>
              <a:t>Two sliders: pumping ±% · recharge ±% → instant baseline vs scenario</a:t>
            </a:r>
          </a:p>
          <a:p>
            <a:pPr>
              <a:spcAft>
                <a:spcPts val="1000"/>
              </a:spcAft>
            </a:pPr>
            <a:r>
              <a:rPr sz="1900">
                <a:solidFill>
                  <a:srgbClr val="1F2A30"/>
                </a:solidFill>
              </a:rPr>
              <a:t>Presets (“-20% pumping”) and saved scenarios that recompute on latest data</a:t>
            </a:r>
          </a:p>
          <a:p>
            <a:pPr>
              <a:spcAft>
                <a:spcPts val="1000"/>
              </a:spcAft>
            </a:pPr>
            <a:r>
              <a:rPr sz="1900">
                <a:solidFill>
                  <a:srgbClr val="1F2A30"/>
                </a:solidFill>
              </a:rPr>
              <a:t>Side-by-side forecast charts with confidence bands + delta cards</a:t>
            </a:r>
          </a:p>
          <a:p>
            <a:pPr>
              <a:spcAft>
                <a:spcPts val="1000"/>
              </a:spcAft>
            </a:pPr>
            <a:r>
              <a:rPr sz="1900">
                <a:solidFill>
                  <a:srgbClr val="1F2A30"/>
                </a:solidFill>
              </a:rPr>
              <a:t>Shows risk-category shift (e.g. semi-critical → critical)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914400"/>
          </a:xfrm>
          <a:prstGeom prst="rect">
            <a:avLst/>
          </a:prstGeom>
          <a:noFill/>
        </p:spPr>
        <p:txBody>
          <a:bodyPr wrap="none">
            <a:spAutoFit/>
          </a:bodyPr>
          <a:lstStyle/>
          <a:p>
            <a:r>
              <a:rPr sz="3400" b="1">
                <a:solidFill>
                  <a:srgbClr val="0E7C86"/>
                </a:solidFill>
              </a:rPr>
              <a:t>Features: GIS · Compare · Weather</a:t>
            </a:r>
          </a:p>
        </p:txBody>
      </p:sp>
      <p:sp>
        <p:nvSpPr>
          <p:cNvPr id="4" name="TextBox 3"/>
          <p:cNvSpPr txBox="1"/>
          <p:nvPr/>
        </p:nvSpPr>
        <p:spPr>
          <a:xfrm>
            <a:off x="566928" y="1325880"/>
            <a:ext cx="11155680" cy="4846320"/>
          </a:xfrm>
          <a:prstGeom prst="rect">
            <a:avLst/>
          </a:prstGeom>
          <a:noFill/>
        </p:spPr>
        <p:txBody>
          <a:bodyPr wrap="square">
            <a:spAutoFit/>
          </a:bodyPr>
          <a:lstStyle/>
          <a:p>
            <a:pPr>
              <a:spcAft>
                <a:spcPts val="1000"/>
              </a:spcAft>
            </a:pPr>
            <a:r>
              <a:rPr sz="1900">
                <a:solidFill>
                  <a:srgbClr val="1F2A30"/>
                </a:solidFill>
              </a:rPr>
              <a:t>Choropleth maps: SVG fallback or Google Maps</a:t>
            </a:r>
          </a:p>
          <a:p>
            <a:pPr lvl="1">
              <a:spcAft>
                <a:spcPts val="1000"/>
              </a:spcAft>
            </a:pPr>
            <a:r>
              <a:rPr sz="1600">
                <a:solidFill>
                  <a:srgbClr val="5A6A72"/>
                </a:solidFill>
              </a:rPr>
              <a:t>Year time-lapse slider with play/pause + two-year delta comparison colouring</a:t>
            </a:r>
          </a:p>
          <a:p>
            <a:pPr>
              <a:spcAft>
                <a:spcPts val="1000"/>
              </a:spcAft>
            </a:pPr>
            <a:r>
              <a:rPr sz="1900">
                <a:solidFill>
                  <a:srgbClr val="1F2A30"/>
                </a:solidFill>
              </a:rPr>
              <a:t>Compare workspace: 2–4 scopes incl. river basins - tables, trends, verdicts</a:t>
            </a:r>
          </a:p>
          <a:p>
            <a:pPr>
              <a:spcAft>
                <a:spcPts val="1000"/>
              </a:spcAft>
            </a:pPr>
            <a:r>
              <a:rPr sz="1900">
                <a:solidFill>
                  <a:srgbClr val="1F2A30"/>
                </a:solidFill>
              </a:rPr>
              <a:t>Live weather page: official IMD when keyed, Open-Meteo fallback labelled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914400"/>
          </a:xfrm>
          <a:prstGeom prst="rect">
            <a:avLst/>
          </a:prstGeom>
          <a:noFill/>
        </p:spPr>
        <p:txBody>
          <a:bodyPr wrap="none">
            <a:spAutoFit/>
          </a:bodyPr>
          <a:lstStyle/>
          <a:p>
            <a:r>
              <a:rPr sz="3400" b="1">
                <a:solidFill>
                  <a:srgbClr val="0E7C86"/>
                </a:solidFill>
              </a:rPr>
              <a:t>Trust &amp; Safety Engine</a:t>
            </a:r>
          </a:p>
        </p:txBody>
      </p:sp>
      <p:sp>
        <p:nvSpPr>
          <p:cNvPr id="4" name="TextBox 3"/>
          <p:cNvSpPr txBox="1"/>
          <p:nvPr/>
        </p:nvSpPr>
        <p:spPr>
          <a:xfrm>
            <a:off x="566928" y="1325880"/>
            <a:ext cx="11155680" cy="4846320"/>
          </a:xfrm>
          <a:prstGeom prst="rect">
            <a:avLst/>
          </a:prstGeom>
          <a:noFill/>
        </p:spPr>
        <p:txBody>
          <a:bodyPr wrap="square">
            <a:spAutoFit/>
          </a:bodyPr>
          <a:lstStyle/>
          <a:p>
            <a:pPr>
              <a:spcAft>
                <a:spcPts val="1000"/>
              </a:spcAft>
            </a:pPr>
            <a:r>
              <a:rPr sz="1900">
                <a:solidFill>
                  <a:srgbClr val="1F2A30"/>
                </a:solidFill>
              </a:rPr>
              <a:t>Anomaly engine: impossible values, category mismatches, z-score outliers</a:t>
            </a:r>
          </a:p>
          <a:p>
            <a:pPr lvl="1">
              <a:spcAft>
                <a:spcPts val="1000"/>
              </a:spcAft>
            </a:pPr>
            <a:r>
              <a:rPr sz="1600">
                <a:solidFill>
                  <a:srgbClr val="5A6A72"/>
                </a:solidFill>
              </a:rPr>
              <a:t>Admin review workflow: open → acknowledged → resolved/dismissed, with audit trail</a:t>
            </a:r>
          </a:p>
          <a:p>
            <a:pPr>
              <a:spcAft>
                <a:spcPts val="1000"/>
              </a:spcAft>
            </a:pPr>
            <a:r>
              <a:rPr sz="1900">
                <a:solidFill>
                  <a:srgbClr val="1F2A30"/>
                </a:solidFill>
              </a:rPr>
              <a:t>Expert human escalation when the AI cannot answer confidently</a:t>
            </a:r>
          </a:p>
          <a:p>
            <a:pPr>
              <a:spcAft>
                <a:spcPts val="1000"/>
              </a:spcAft>
            </a:pPr>
            <a:r>
              <a:rPr sz="1900">
                <a:solidFill>
                  <a:srgbClr val="1F2A30"/>
                </a:solidFill>
              </a:rPr>
              <a:t>“Information unavailable” is an acceptable answer - strict no-hallucination policy</a:t>
            </a:r>
          </a:p>
          <a:p>
            <a:pPr>
              <a:spcAft>
                <a:spcPts val="1000"/>
              </a:spcAft>
            </a:pPr>
            <a:r>
              <a:rPr sz="1900">
                <a:solidFill>
                  <a:srgbClr val="1F2A30"/>
                </a:solidFill>
              </a:rPr>
              <a:t>Demo vs real data labelled everywhere, with source provenance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914400"/>
          </a:xfrm>
          <a:prstGeom prst="rect">
            <a:avLst/>
          </a:prstGeom>
          <a:noFill/>
        </p:spPr>
        <p:txBody>
          <a:bodyPr wrap="none">
            <a:spAutoFit/>
          </a:bodyPr>
          <a:lstStyle/>
          <a:p>
            <a:r>
              <a:rPr sz="3400" b="1">
                <a:solidFill>
                  <a:srgbClr val="0E7C86"/>
                </a:solidFill>
              </a:rPr>
              <a:t>Admin Command Center</a:t>
            </a:r>
          </a:p>
        </p:txBody>
      </p:sp>
      <p:sp>
        <p:nvSpPr>
          <p:cNvPr id="4" name="TextBox 3"/>
          <p:cNvSpPr txBox="1"/>
          <p:nvPr/>
        </p:nvSpPr>
        <p:spPr>
          <a:xfrm>
            <a:off x="566928" y="1325880"/>
            <a:ext cx="11155680" cy="4846320"/>
          </a:xfrm>
          <a:prstGeom prst="rect">
            <a:avLst/>
          </a:prstGeom>
          <a:noFill/>
        </p:spPr>
        <p:txBody>
          <a:bodyPr wrap="square">
            <a:spAutoFit/>
          </a:bodyPr>
          <a:lstStyle/>
          <a:p>
            <a:pPr>
              <a:spcAft>
                <a:spcPts val="1000"/>
              </a:spcAft>
            </a:pPr>
            <a:r>
              <a:rPr sz="1900">
                <a:solidFill>
                  <a:srgbClr val="1F2A30"/>
                </a:solidFill>
              </a:rPr>
              <a:t>Overview: live stat cards + India map + critical zones</a:t>
            </a:r>
          </a:p>
          <a:p>
            <a:pPr lvl="1">
              <a:spcAft>
                <a:spcPts val="1000"/>
              </a:spcAft>
            </a:pPr>
            <a:r>
              <a:rPr sz="1600">
                <a:solidFill>
                  <a:srgbClr val="5A6A72"/>
                </a:solidFill>
              </a:rPr>
              <a:t>Data: import pipeline, registry, live CGWB/IMD sync controls</a:t>
            </a:r>
          </a:p>
          <a:p>
            <a:pPr lvl="1">
              <a:spcAft>
                <a:spcPts val="1000"/>
              </a:spcAft>
            </a:pPr>
            <a:r>
              <a:rPr sz="1600">
                <a:solidFill>
                  <a:srgbClr val="5A6A72"/>
                </a:solidFill>
              </a:rPr>
              <a:t>AI/RAG status + re-indexing · Model validation metrics · Query monitor</a:t>
            </a:r>
          </a:p>
          <a:p>
            <a:pPr lvl="1">
              <a:spcAft>
                <a:spcPts val="1000"/>
              </a:spcAft>
            </a:pPr>
            <a:r>
              <a:rPr sz="1600">
                <a:solidFill>
                  <a:srgbClr val="5A6A72"/>
                </a:solidFill>
              </a:rPr>
              <a:t>Data Quality tab: scan now, filterable flag table</a:t>
            </a:r>
          </a:p>
          <a:p>
            <a:pPr lvl="1">
              <a:spcAft>
                <a:spcPts val="1000"/>
              </a:spcAft>
            </a:pPr>
            <a:r>
              <a:rPr sz="1600">
                <a:solidFill>
                  <a:srgbClr val="5A6A72"/>
                </a:solidFill>
              </a:rPr>
              <a:t>Voice dashboard: call logs, transcripts, end-to-end Telugu call test</a:t>
            </a:r>
          </a:p>
          <a:p>
            <a:pPr>
              <a:spcAft>
                <a:spcPts val="1000"/>
              </a:spcAft>
            </a:pPr>
            <a:r>
              <a:rPr sz="1900">
                <a:solidFill>
                  <a:srgbClr val="1F2A30"/>
                </a:solidFill>
              </a:rPr>
              <a:t>Scheduled report digests: recurring PDFs delivered by email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914400"/>
          </a:xfrm>
          <a:prstGeom prst="rect">
            <a:avLst/>
          </a:prstGeom>
          <a:noFill/>
        </p:spPr>
        <p:txBody>
          <a:bodyPr wrap="none">
            <a:spAutoFit/>
          </a:bodyPr>
          <a:lstStyle/>
          <a:p>
            <a:r>
              <a:rPr sz="3400" b="1">
                <a:solidFill>
                  <a:srgbClr val="0E7C86"/>
                </a:solidFill>
              </a:rPr>
              <a:t>Engineering Quality</a:t>
            </a:r>
          </a:p>
        </p:txBody>
      </p:sp>
      <p:sp>
        <p:nvSpPr>
          <p:cNvPr id="4" name="TextBox 3"/>
          <p:cNvSpPr txBox="1"/>
          <p:nvPr/>
        </p:nvSpPr>
        <p:spPr>
          <a:xfrm>
            <a:off x="566928" y="1325880"/>
            <a:ext cx="11155680" cy="4846320"/>
          </a:xfrm>
          <a:prstGeom prst="rect">
            <a:avLst/>
          </a:prstGeom>
          <a:noFill/>
        </p:spPr>
        <p:txBody>
          <a:bodyPr wrap="square">
            <a:spAutoFit/>
          </a:bodyPr>
          <a:lstStyle/>
          <a:p>
            <a:pPr>
              <a:spcAft>
                <a:spcPts val="1000"/>
              </a:spcAft>
            </a:pPr>
            <a:r>
              <a:rPr sz="1900">
                <a:solidFill>
                  <a:srgbClr val="1F2A30"/>
                </a:solidFill>
              </a:rPr>
              <a:t>130 backend pytest tests · frontend typecheck + vitest suite</a:t>
            </a:r>
          </a:p>
          <a:p>
            <a:pPr>
              <a:spcAft>
                <a:spcPts val="1000"/>
              </a:spcAft>
            </a:pPr>
            <a:r>
              <a:rPr sz="1900">
                <a:solidFill>
                  <a:srgbClr val="1F2A30"/>
                </a:solidFill>
              </a:rPr>
              <a:t>GitHub Actions CI: backend tests, frontend build, Docker builds ± ML stack</a:t>
            </a:r>
          </a:p>
          <a:p>
            <a:pPr>
              <a:spcAft>
                <a:spcPts val="1000"/>
              </a:spcAft>
            </a:pPr>
            <a:r>
              <a:rPr sz="1900">
                <a:solidFill>
                  <a:srgbClr val="1F2A30"/>
                </a:solidFill>
              </a:rPr>
              <a:t>Hardened containers: non-root users, healthchecks, CSP headers, limits</a:t>
            </a:r>
          </a:p>
          <a:p>
            <a:pPr>
              <a:spcAft>
                <a:spcPts val="1000"/>
              </a:spcAft>
            </a:pPr>
            <a:r>
              <a:rPr sz="1900">
                <a:solidFill>
                  <a:srgbClr val="1F2A30"/>
                </a:solidFill>
              </a:rPr>
              <a:t>Idempotent seeding &amp; imports - safe to re-run anytime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914400"/>
          </a:xfrm>
          <a:prstGeom prst="rect">
            <a:avLst/>
          </a:prstGeom>
          <a:noFill/>
        </p:spPr>
        <p:txBody>
          <a:bodyPr wrap="none">
            <a:spAutoFit/>
          </a:bodyPr>
          <a:lstStyle/>
          <a:p>
            <a:r>
              <a:rPr sz="3400" b="1">
                <a:solidFill>
                  <a:srgbClr val="0E7C86"/>
                </a:solidFill>
              </a:rPr>
              <a:t>Live Demo Flow</a:t>
            </a:r>
          </a:p>
        </p:txBody>
      </p:sp>
      <p:sp>
        <p:nvSpPr>
          <p:cNvPr id="4" name="TextBox 3"/>
          <p:cNvSpPr txBox="1"/>
          <p:nvPr/>
        </p:nvSpPr>
        <p:spPr>
          <a:xfrm>
            <a:off x="566928" y="1325880"/>
            <a:ext cx="11155680" cy="4846320"/>
          </a:xfrm>
          <a:prstGeom prst="rect">
            <a:avLst/>
          </a:prstGeom>
          <a:noFill/>
        </p:spPr>
        <p:txBody>
          <a:bodyPr wrap="square">
            <a:spAutoFit/>
          </a:bodyPr>
          <a:lstStyle/>
          <a:p>
            <a:pPr>
              <a:spcAft>
                <a:spcPts val="1000"/>
              </a:spcAft>
            </a:pPr>
            <a:r>
              <a:rPr sz="1900">
                <a:solidFill>
                  <a:srgbClr val="1F2A30"/>
                </a:solidFill>
              </a:rPr>
              <a:t>Dashboard → multilingual stat cards</a:t>
            </a:r>
          </a:p>
          <a:p>
            <a:pPr lvl="1">
              <a:spcAft>
                <a:spcPts val="1000"/>
              </a:spcAft>
            </a:pPr>
            <a:r>
              <a:rPr sz="1600">
                <a:solidFill>
                  <a:srgbClr val="5A6A72"/>
                </a:solidFill>
              </a:rPr>
              <a:t>Assistant: English → follow-up → Telugu question → forecast ask</a:t>
            </a:r>
          </a:p>
          <a:p>
            <a:pPr lvl="1">
              <a:spcAft>
                <a:spcPts val="1000"/>
              </a:spcAft>
            </a:pPr>
            <a:r>
              <a:rPr sz="1600">
                <a:solidFill>
                  <a:srgbClr val="5A6A72"/>
                </a:solidFill>
              </a:rPr>
              <a:t>Scenario Studio: drag “-20% pumping” → watch risk shift</a:t>
            </a:r>
          </a:p>
          <a:p>
            <a:pPr lvl="1">
              <a:spcAft>
                <a:spcPts val="1000"/>
              </a:spcAft>
            </a:pPr>
            <a:r>
              <a:rPr sz="1600">
                <a:solidFill>
                  <a:srgbClr val="5A6A72"/>
                </a:solidFill>
              </a:rPr>
              <a:t>GIS time-lapse animation</a:t>
            </a:r>
          </a:p>
          <a:p>
            <a:pPr lvl="1">
              <a:spcAft>
                <a:spcPts val="1000"/>
              </a:spcAft>
            </a:pPr>
            <a:r>
              <a:rPr sz="1600">
                <a:solidFill>
                  <a:srgbClr val="5A6A72"/>
                </a:solidFill>
              </a:rPr>
              <a:t>Phone call simulation in Telugu</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914400"/>
          </a:xfrm>
          <a:prstGeom prst="rect">
            <a:avLst/>
          </a:prstGeom>
          <a:noFill/>
        </p:spPr>
        <p:txBody>
          <a:bodyPr wrap="none">
            <a:spAutoFit/>
          </a:bodyPr>
          <a:lstStyle/>
          <a:p>
            <a:r>
              <a:rPr sz="3400" b="1">
                <a:solidFill>
                  <a:srgbClr val="0E7C86"/>
                </a:solidFill>
              </a:rPr>
              <a:t>Impact &amp; Roadmap</a:t>
            </a:r>
          </a:p>
        </p:txBody>
      </p:sp>
      <p:sp>
        <p:nvSpPr>
          <p:cNvPr id="4" name="TextBox 3"/>
          <p:cNvSpPr txBox="1"/>
          <p:nvPr/>
        </p:nvSpPr>
        <p:spPr>
          <a:xfrm>
            <a:off x="566928" y="1325880"/>
            <a:ext cx="11155680" cy="4846320"/>
          </a:xfrm>
          <a:prstGeom prst="rect">
            <a:avLst/>
          </a:prstGeom>
          <a:noFill/>
        </p:spPr>
        <p:txBody>
          <a:bodyPr wrap="square">
            <a:spAutoFit/>
          </a:bodyPr>
          <a:lstStyle/>
          <a:p>
            <a:pPr>
              <a:spcAft>
                <a:spcPts val="1000"/>
              </a:spcAft>
            </a:pPr>
            <a:r>
              <a:rPr sz="1900">
                <a:solidFill>
                  <a:srgbClr val="1F2A30"/>
                </a:solidFill>
              </a:rPr>
              <a:t>“Groundwater answers for every Indian, in their language, on any device.”</a:t>
            </a:r>
          </a:p>
          <a:p>
            <a:pPr>
              <a:spcAft>
                <a:spcPts val="1000"/>
              </a:spcAft>
            </a:pPr>
            <a:r>
              <a:rPr sz="1900">
                <a:solidFill>
                  <a:srgbClr val="1F2A30"/>
                </a:solidFill>
              </a:rPr>
              <a:t>Next: more districts of real data · SMS/USSD channel · regional TTS voices</a:t>
            </a:r>
          </a:p>
          <a:p>
            <a:pPr>
              <a:spcAft>
                <a:spcPts val="1000"/>
              </a:spcAft>
            </a:pPr>
            <a:r>
              <a:rPr sz="1900">
                <a:solidFill>
                  <a:srgbClr val="1F2A30"/>
                </a:solidFill>
              </a:rPr>
              <a:t>Thank you!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